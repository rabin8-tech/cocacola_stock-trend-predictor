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99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7.png"/><Relationship Id="rId3" Type="http://schemas.openxmlformats.org/officeDocument/2006/relationships/image" Target="../media/image1.png"/><Relationship Id="rId21" Type="http://schemas.openxmlformats.org/officeDocument/2006/relationships/image" Target="../media/image50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7.png"/><Relationship Id="rId9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" Type="http://schemas.openxmlformats.org/officeDocument/2006/relationships/image" Target="../media/image61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14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7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7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99.png"/><Relationship Id="rId5" Type="http://schemas.openxmlformats.org/officeDocument/2006/relationships/image" Target="../media/image96.png"/><Relationship Id="rId10" Type="http://schemas.openxmlformats.org/officeDocument/2006/relationships/image" Target="../media/image98.png"/><Relationship Id="rId4" Type="http://schemas.openxmlformats.org/officeDocument/2006/relationships/image" Target="../media/image7.png"/><Relationship Id="rId9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2231678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019800"/>
            <a:ext cx="17145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824" y="5791200"/>
            <a:ext cx="171450" cy="190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1276350"/>
            <a:ext cx="23122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Financial Analysis</a:t>
            </a:r>
            <a:endParaRPr lang="en-US" sz="1500" dirty="0"/>
          </a:p>
        </p:txBody>
      </p:sp>
      <p:sp>
        <p:nvSpPr>
          <p:cNvPr id="9" name="Text 1"/>
          <p:cNvSpPr/>
          <p:nvPr/>
        </p:nvSpPr>
        <p:spPr>
          <a:xfrm>
            <a:off x="609600" y="1714500"/>
            <a:ext cx="109728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Coca-Cola (KO)
</a:t>
            </a: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Stock Performance Analysis</a:t>
            </a:r>
            <a:endParaRPr lang="en-US" sz="4500" dirty="0"/>
          </a:p>
        </p:txBody>
      </p:sp>
      <p:sp>
        <p:nvSpPr>
          <p:cNvPr id="10" name="Text 2"/>
          <p:cNvSpPr/>
          <p:nvPr/>
        </p:nvSpPr>
        <p:spPr>
          <a:xfrm>
            <a:off x="609600" y="3086100"/>
            <a:ext cx="109728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comprehensive exploration of Coca-Cola's stock trends, trading activity, and price volatility from 1960 to 2025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857250" y="5981700"/>
            <a:ext cx="26437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Author: Rabin Shahi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8756690" y="5753100"/>
            <a:ext cx="2825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November 2025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8756690" y="6057900"/>
            <a:ext cx="28257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Generated: November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57400"/>
            <a:ext cx="3657600" cy="1866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050" y="2286000"/>
            <a:ext cx="5715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2057400"/>
            <a:ext cx="3657600" cy="1866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286000"/>
            <a:ext cx="40005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057400"/>
            <a:ext cx="3657600" cy="1866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0" y="22860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229100"/>
            <a:ext cx="11430000" cy="1485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914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49149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2959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5295900"/>
            <a:ext cx="1524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Introduction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381000" y="12192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project focuses on analyzing the historical performance of Coca-Cola Company (KO) using data analysis tools—Python, SQL, and Tableau.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829544" y="2895600"/>
            <a:ext cx="9126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609600" y="32385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data manipulation and statistical analysis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5885706" y="2895600"/>
            <a:ext cx="5047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4495800" y="32385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querying and extracting key insights from the dataset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9567714" y="2895600"/>
            <a:ext cx="9947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Tableau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8382000" y="32385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data visualization and interactive exploration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09600" y="44577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876300" y="4876800"/>
            <a:ext cx="54022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 long-term trends in Coca-Cola's stock performance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438900" y="4876800"/>
            <a:ext cx="41321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trading activity and volume patterns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876300" y="5257800"/>
            <a:ext cx="30889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Examine price volatility over time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6438900" y="5257800"/>
            <a:ext cx="45446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patterns and anomalies in stock behavior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1143000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85900"/>
            <a:ext cx="3048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695700"/>
            <a:ext cx="3708350" cy="800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848100"/>
            <a:ext cx="40005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96240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3695700"/>
            <a:ext cx="370835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150" y="3848100"/>
            <a:ext cx="371475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3962400"/>
            <a:ext cx="1428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501" y="3695700"/>
            <a:ext cx="3708499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4901" y="3848100"/>
            <a:ext cx="3714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3962400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648200"/>
            <a:ext cx="370835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800600"/>
            <a:ext cx="371475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914900"/>
            <a:ext cx="1428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4648200"/>
            <a:ext cx="370835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94150" y="4800600"/>
            <a:ext cx="371475" cy="495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8450" y="4914900"/>
            <a:ext cx="1428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501" y="4648200"/>
            <a:ext cx="3708499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4901" y="4800600"/>
            <a:ext cx="419100" cy="495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9201" y="49149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5676900"/>
            <a:ext cx="114300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58674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5867400"/>
            <a:ext cx="1143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066800" y="1447800"/>
            <a:ext cx="875124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1066800" y="1828800"/>
            <a:ext cx="875124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historical stock data for The Coca-Cola Company (KO) was sourced from Yahoo Finance via Kaggle.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1066800" y="2438400"/>
            <a:ext cx="105014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stored in MySQL database named </a:t>
            </a: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rabin</a:t>
            </a: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under the table </a:t>
            </a: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coca_cola_data</a:t>
            </a: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9818043" y="1447800"/>
            <a:ext cx="21172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16,023</a:t>
            </a:r>
            <a:endParaRPr lang="en-US" sz="3600" dirty="0"/>
          </a:p>
        </p:txBody>
      </p:sp>
      <p:sp>
        <p:nvSpPr>
          <p:cNvPr id="32" name="Text 5"/>
          <p:cNvSpPr/>
          <p:nvPr/>
        </p:nvSpPr>
        <p:spPr>
          <a:xfrm>
            <a:off x="10321379" y="1905000"/>
            <a:ext cx="9090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Records</a:t>
            </a:r>
            <a:endParaRPr lang="en-US" sz="1500" dirty="0"/>
          </a:p>
        </p:txBody>
      </p:sp>
      <p:sp>
        <p:nvSpPr>
          <p:cNvPr id="33" name="Text 6"/>
          <p:cNvSpPr/>
          <p:nvPr/>
        </p:nvSpPr>
        <p:spPr>
          <a:xfrm>
            <a:off x="381000" y="3238500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Attributes</a:t>
            </a:r>
            <a:endParaRPr lang="en-US" sz="1800" dirty="0"/>
          </a:p>
        </p:txBody>
      </p:sp>
      <p:sp>
        <p:nvSpPr>
          <p:cNvPr id="34" name="Text 7"/>
          <p:cNvSpPr/>
          <p:nvPr/>
        </p:nvSpPr>
        <p:spPr>
          <a:xfrm>
            <a:off x="1047750" y="3848100"/>
            <a:ext cx="9513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Date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1047750" y="4114800"/>
            <a:ext cx="11415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Trading date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4879925" y="3848100"/>
            <a:ext cx="2304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</a:t>
            </a:r>
            <a:endParaRPr lang="en-US" sz="1350" dirty="0"/>
          </a:p>
        </p:txBody>
      </p:sp>
      <p:sp>
        <p:nvSpPr>
          <p:cNvPr id="37" name="Text 10"/>
          <p:cNvSpPr/>
          <p:nvPr/>
        </p:nvSpPr>
        <p:spPr>
          <a:xfrm>
            <a:off x="4879925" y="4114800"/>
            <a:ext cx="27658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Stock price at market opening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8740676" y="3848100"/>
            <a:ext cx="21783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8740676" y="4114800"/>
            <a:ext cx="26140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price during the day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1019175" y="4800600"/>
            <a:ext cx="21282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1019175" y="5067300"/>
            <a:ext cx="25538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price during the day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4879925" y="4800600"/>
            <a:ext cx="2081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Close</a:t>
            </a:r>
            <a:endParaRPr lang="en-US" sz="1350" dirty="0"/>
          </a:p>
        </p:txBody>
      </p:sp>
      <p:sp>
        <p:nvSpPr>
          <p:cNvPr id="43" name="Text 16"/>
          <p:cNvSpPr/>
          <p:nvPr/>
        </p:nvSpPr>
        <p:spPr>
          <a:xfrm>
            <a:off x="4879925" y="5067300"/>
            <a:ext cx="24976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Stock price at market close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8788301" y="4800600"/>
            <a:ext cx="19093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Volume</a:t>
            </a:r>
            <a:endParaRPr lang="en-US" sz="1350" dirty="0"/>
          </a:p>
        </p:txBody>
      </p:sp>
      <p:sp>
        <p:nvSpPr>
          <p:cNvPr id="45" name="Text 18"/>
          <p:cNvSpPr/>
          <p:nvPr/>
        </p:nvSpPr>
        <p:spPr>
          <a:xfrm>
            <a:off x="8788301" y="5067300"/>
            <a:ext cx="22911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shares traded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781050" y="5848350"/>
            <a:ext cx="699909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Ticker: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1489025" y="5848350"/>
            <a:ext cx="25396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</a:t>
            </a:r>
            <a:endParaRPr lang="en-US" sz="1200" dirty="0"/>
          </a:p>
        </p:txBody>
      </p:sp>
      <p:sp>
        <p:nvSpPr>
          <p:cNvPr id="48" name="Text 21"/>
          <p:cNvSpPr/>
          <p:nvPr/>
        </p:nvSpPr>
        <p:spPr>
          <a:xfrm>
            <a:off x="6324600" y="5848350"/>
            <a:ext cx="1027271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Company: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7305377" y="5848350"/>
            <a:ext cx="224706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Coca-Cola Company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638300"/>
            <a:ext cx="278130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138" y="1790700"/>
            <a:ext cx="428625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438" y="19050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1638300"/>
            <a:ext cx="2781300" cy="1600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550" y="1790700"/>
            <a:ext cx="4572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4850" y="19050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38300"/>
            <a:ext cx="2781300" cy="1600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1790700"/>
            <a:ext cx="4572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8550" y="19050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1638300"/>
            <a:ext cx="2781300" cy="1600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3663" y="1790700"/>
            <a:ext cx="485775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7963" y="190500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3467100"/>
            <a:ext cx="11582400" cy="2019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114800"/>
            <a:ext cx="3048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21957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411480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42195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48006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49053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4800600"/>
            <a:ext cx="3048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6500" y="4905375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 and Cleaning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304800" y="11430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Ensuring data accuracy was critical for reliable analysis of Coca-Cola stock performance.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997148" y="2438400"/>
            <a:ext cx="16759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Records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033760" y="2743200"/>
            <a:ext cx="1323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16,066</a:t>
            </a:r>
            <a:endParaRPr lang="en-US" sz="2250" dirty="0"/>
          </a:p>
        </p:txBody>
      </p:sp>
      <p:sp>
        <p:nvSpPr>
          <p:cNvPr id="29" name="Text 4"/>
          <p:cNvSpPr/>
          <p:nvPr/>
        </p:nvSpPr>
        <p:spPr>
          <a:xfrm>
            <a:off x="3614440" y="2438400"/>
            <a:ext cx="24351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Records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4390549" y="2743200"/>
            <a:ext cx="4772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AB30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</a:t>
            </a:r>
            <a:endParaRPr lang="en-US" sz="2250" dirty="0"/>
          </a:p>
        </p:txBody>
      </p:sp>
      <p:sp>
        <p:nvSpPr>
          <p:cNvPr id="31" name="Text 6"/>
          <p:cNvSpPr/>
          <p:nvPr/>
        </p:nvSpPr>
        <p:spPr>
          <a:xfrm>
            <a:off x="6908155" y="2438400"/>
            <a:ext cx="15710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Records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6901160" y="2743200"/>
            <a:ext cx="1323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16,023</a:t>
            </a:r>
            <a:endParaRPr lang="en-US" sz="2250" dirty="0"/>
          </a:p>
        </p:txBody>
      </p:sp>
      <p:sp>
        <p:nvSpPr>
          <p:cNvPr id="33" name="Text 8"/>
          <p:cNvSpPr/>
          <p:nvPr/>
        </p:nvSpPr>
        <p:spPr>
          <a:xfrm>
            <a:off x="9891415" y="2438400"/>
            <a:ext cx="14521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9901669" y="2743200"/>
            <a:ext cx="11896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99.7%</a:t>
            </a:r>
            <a:endParaRPr lang="en-US" sz="2250" dirty="0"/>
          </a:p>
        </p:txBody>
      </p:sp>
      <p:sp>
        <p:nvSpPr>
          <p:cNvPr id="35" name="Text 10"/>
          <p:cNvSpPr/>
          <p:nvPr/>
        </p:nvSpPr>
        <p:spPr>
          <a:xfrm>
            <a:off x="533400" y="3695700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 Checks Performed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952500" y="4114800"/>
            <a:ext cx="34895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952500" y="4343400"/>
            <a:ext cx="41874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missing values detected across attributes.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629400" y="4114800"/>
            <a:ext cx="25313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629400" y="4343400"/>
            <a:ext cx="25313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duplicate records found.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952500" y="4800600"/>
            <a:ext cx="41662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Data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952500" y="5029200"/>
            <a:ext cx="49995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 rows with 'Low' price &gt; 'Open' price were removed.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6629400" y="4800600"/>
            <a:ext cx="39030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6629400" y="5029200"/>
            <a:ext cx="46836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dataset verified for accuracy and consistency.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49" y="1547935"/>
            <a:ext cx="1143000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1568938"/>
            <a:ext cx="114300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2644" y="1547935"/>
            <a:ext cx="11430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086100"/>
            <a:ext cx="56769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3147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086100"/>
            <a:ext cx="5676900" cy="952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3147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267200"/>
            <a:ext cx="5676900" cy="952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44958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267200"/>
            <a:ext cx="56769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495800"/>
            <a:ext cx="28575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Analysis Highlights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304800" y="11430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 from SQL queries on Coca-Cola's stock data (1960-2025)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683693" y="1828800"/>
            <a:ext cx="1323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$65.20</a:t>
            </a:r>
            <a:endParaRPr lang="en-US" sz="2250" dirty="0"/>
          </a:p>
        </p:txBody>
      </p:sp>
      <p:sp>
        <p:nvSpPr>
          <p:cNvPr id="18" name="Text 3"/>
          <p:cNvSpPr/>
          <p:nvPr/>
        </p:nvSpPr>
        <p:spPr>
          <a:xfrm>
            <a:off x="1663601" y="2209800"/>
            <a:ext cx="114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Closing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     Price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5544443" y="1828800"/>
            <a:ext cx="1323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$0.045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5524351" y="2209800"/>
            <a:ext cx="114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Opening Price</a:t>
            </a:r>
            <a:endParaRPr lang="en-US" sz="1050" dirty="0"/>
          </a:p>
        </p:txBody>
      </p:sp>
      <p:sp>
        <p:nvSpPr>
          <p:cNvPr id="21" name="Text 6"/>
          <p:cNvSpPr/>
          <p:nvPr/>
        </p:nvSpPr>
        <p:spPr>
          <a:xfrm>
            <a:off x="9614595" y="1924050"/>
            <a:ext cx="8208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63%</a:t>
            </a:r>
            <a:endParaRPr lang="en-US" sz="2250" dirty="0"/>
          </a:p>
        </p:txBody>
      </p:sp>
      <p:sp>
        <p:nvSpPr>
          <p:cNvPr id="22" name="Text 7"/>
          <p:cNvSpPr/>
          <p:nvPr/>
        </p:nvSpPr>
        <p:spPr>
          <a:xfrm>
            <a:off x="9548366" y="2305050"/>
            <a:ext cx="97958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Bullish Days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876300" y="3276600"/>
            <a:ext cx="46319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Trading Volume Spike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876300" y="3619500"/>
            <a:ext cx="55583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trading volume of 98,300,000 shares on 2020-03-16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781800" y="3276600"/>
            <a:ext cx="38400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Yearly Trends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781800" y="3619500"/>
            <a:ext cx="46080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Steady growth in average closing prices over time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876300" y="4457700"/>
            <a:ext cx="33115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Monthly Patterns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876300" y="4800600"/>
            <a:ext cx="39738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Slight dips in March &amp; September observed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6838950" y="4457700"/>
            <a:ext cx="48273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Sentiment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838950" y="4800600"/>
            <a:ext cx="57928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Approximately 63% of trading days closed higher than opening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866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828800"/>
            <a:ext cx="1303883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683" y="1828800"/>
            <a:ext cx="991791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0474" y="1828800"/>
            <a:ext cx="973336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3810" y="1828800"/>
            <a:ext cx="973336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7146" y="1828800"/>
            <a:ext cx="1008162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5307" y="1828800"/>
            <a:ext cx="1546473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209800"/>
            <a:ext cx="1303883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8683" y="2209800"/>
            <a:ext cx="991791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474" y="2209800"/>
            <a:ext cx="973336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3810" y="2209800"/>
            <a:ext cx="973336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7146" y="2209800"/>
            <a:ext cx="1008162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5307" y="2209800"/>
            <a:ext cx="1546473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2590800"/>
            <a:ext cx="679698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590800"/>
            <a:ext cx="1303883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8683" y="2590800"/>
            <a:ext cx="991791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474" y="2590800"/>
            <a:ext cx="973336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3810" y="2590800"/>
            <a:ext cx="973336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7146" y="2590800"/>
            <a:ext cx="1008162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5307" y="2590800"/>
            <a:ext cx="1546473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971800"/>
            <a:ext cx="1303883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8683" y="2971800"/>
            <a:ext cx="991791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474" y="2971800"/>
            <a:ext cx="973336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3810" y="2971800"/>
            <a:ext cx="973336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7146" y="2971800"/>
            <a:ext cx="1008162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5307" y="2971800"/>
            <a:ext cx="1546473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352800"/>
            <a:ext cx="679698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3352800"/>
            <a:ext cx="1303883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8683" y="3352800"/>
            <a:ext cx="991791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00474" y="3352800"/>
            <a:ext cx="973336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3810" y="3352800"/>
            <a:ext cx="973336" cy="381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47146" y="3352800"/>
            <a:ext cx="1008162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5307" y="3352800"/>
            <a:ext cx="1546473" cy="381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6580" y="1828800"/>
            <a:ext cx="4480471" cy="389572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60766" y="2400300"/>
            <a:ext cx="4171950" cy="2600325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58980" y="5181600"/>
            <a:ext cx="133350" cy="1333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8980" y="5410200"/>
            <a:ext cx="133350" cy="1333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4800" y="5876925"/>
            <a:ext cx="11582400" cy="11049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" y="6410325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72200" y="6410325"/>
            <a:ext cx="152400" cy="1524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Summary</a:t>
            </a:r>
            <a:endParaRPr lang="en-US" sz="2700" dirty="0"/>
          </a:p>
        </p:txBody>
      </p:sp>
      <p:sp>
        <p:nvSpPr>
          <p:cNvPr id="44" name="Text 1"/>
          <p:cNvSpPr/>
          <p:nvPr/>
        </p:nvSpPr>
        <p:spPr>
          <a:xfrm>
            <a:off x="304800" y="1143000"/>
            <a:ext cx="11582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Python-based statistical summary quantifying Coca-Cola's stock characteristics, including measures of central tendency and dispersion.</a:t>
            </a:r>
            <a:endParaRPr lang="en-US" sz="1350" dirty="0"/>
          </a:p>
        </p:txBody>
      </p:sp>
      <p:sp>
        <p:nvSpPr>
          <p:cNvPr id="45" name="Text 2"/>
          <p:cNvSpPr/>
          <p:nvPr/>
        </p:nvSpPr>
        <p:spPr>
          <a:xfrm>
            <a:off x="304800" y="1828800"/>
            <a:ext cx="130388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Metric</a:t>
            </a:r>
            <a:endParaRPr lang="en-US" sz="1200" dirty="0"/>
          </a:p>
        </p:txBody>
      </p:sp>
      <p:sp>
        <p:nvSpPr>
          <p:cNvPr id="46" name="Text 3"/>
          <p:cNvSpPr/>
          <p:nvPr/>
        </p:nvSpPr>
        <p:spPr>
          <a:xfrm>
            <a:off x="1608683" y="1828800"/>
            <a:ext cx="99179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</a:t>
            </a:r>
            <a:endParaRPr lang="en-US" sz="1200" dirty="0"/>
          </a:p>
        </p:txBody>
      </p:sp>
      <p:sp>
        <p:nvSpPr>
          <p:cNvPr id="47" name="Text 4"/>
          <p:cNvSpPr/>
          <p:nvPr/>
        </p:nvSpPr>
        <p:spPr>
          <a:xfrm>
            <a:off x="2600474" y="1828800"/>
            <a:ext cx="97333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200" dirty="0"/>
          </a:p>
        </p:txBody>
      </p:sp>
      <p:sp>
        <p:nvSpPr>
          <p:cNvPr id="48" name="Text 5"/>
          <p:cNvSpPr/>
          <p:nvPr/>
        </p:nvSpPr>
        <p:spPr>
          <a:xfrm>
            <a:off x="3573810" y="1828800"/>
            <a:ext cx="97333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</a:t>
            </a:r>
            <a:endParaRPr lang="en-US" sz="1200" dirty="0"/>
          </a:p>
        </p:txBody>
      </p:sp>
      <p:sp>
        <p:nvSpPr>
          <p:cNvPr id="49" name="Text 6"/>
          <p:cNvSpPr/>
          <p:nvPr/>
        </p:nvSpPr>
        <p:spPr>
          <a:xfrm>
            <a:off x="4547146" y="1828800"/>
            <a:ext cx="10081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Close</a:t>
            </a:r>
            <a:endParaRPr lang="en-US" sz="1200" dirty="0"/>
          </a:p>
        </p:txBody>
      </p:sp>
      <p:sp>
        <p:nvSpPr>
          <p:cNvPr id="50" name="Text 7"/>
          <p:cNvSpPr/>
          <p:nvPr/>
        </p:nvSpPr>
        <p:spPr>
          <a:xfrm>
            <a:off x="5555307" y="1828800"/>
            <a:ext cx="154647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Volume</a:t>
            </a:r>
            <a:endParaRPr lang="en-US" sz="1200" dirty="0"/>
          </a:p>
        </p:txBody>
      </p:sp>
      <p:sp>
        <p:nvSpPr>
          <p:cNvPr id="51" name="Text 8"/>
          <p:cNvSpPr/>
          <p:nvPr/>
        </p:nvSpPr>
        <p:spPr>
          <a:xfrm>
            <a:off x="304800" y="2209800"/>
            <a:ext cx="130388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</a:t>
            </a:r>
            <a:endParaRPr lang="en-US" sz="1200" dirty="0"/>
          </a:p>
        </p:txBody>
      </p:sp>
      <p:sp>
        <p:nvSpPr>
          <p:cNvPr id="52" name="Text 9"/>
          <p:cNvSpPr/>
          <p:nvPr/>
        </p:nvSpPr>
        <p:spPr>
          <a:xfrm>
            <a:off x="1509504" y="2209800"/>
            <a:ext cx="11901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32.94</a:t>
            </a:r>
            <a:endParaRPr lang="en-US" sz="1200" dirty="0"/>
          </a:p>
        </p:txBody>
      </p:sp>
      <p:sp>
        <p:nvSpPr>
          <p:cNvPr id="53" name="Text 10"/>
          <p:cNvSpPr/>
          <p:nvPr/>
        </p:nvSpPr>
        <p:spPr>
          <a:xfrm>
            <a:off x="2503140" y="2209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33.44</a:t>
            </a:r>
            <a:endParaRPr lang="en-US" sz="1200" dirty="0"/>
          </a:p>
        </p:txBody>
      </p:sp>
      <p:sp>
        <p:nvSpPr>
          <p:cNvPr id="54" name="Text 11"/>
          <p:cNvSpPr/>
          <p:nvPr/>
        </p:nvSpPr>
        <p:spPr>
          <a:xfrm>
            <a:off x="3476476" y="2209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32.42</a:t>
            </a:r>
            <a:endParaRPr lang="en-US" sz="1200" dirty="0"/>
          </a:p>
        </p:txBody>
      </p:sp>
      <p:sp>
        <p:nvSpPr>
          <p:cNvPr id="55" name="Text 12"/>
          <p:cNvSpPr/>
          <p:nvPr/>
        </p:nvSpPr>
        <p:spPr>
          <a:xfrm>
            <a:off x="4446330" y="2209800"/>
            <a:ext cx="12097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32.93</a:t>
            </a:r>
            <a:endParaRPr lang="en-US" sz="1200" dirty="0"/>
          </a:p>
        </p:txBody>
      </p:sp>
      <p:sp>
        <p:nvSpPr>
          <p:cNvPr id="56" name="Text 13"/>
          <p:cNvSpPr/>
          <p:nvPr/>
        </p:nvSpPr>
        <p:spPr>
          <a:xfrm>
            <a:off x="5400660" y="2209800"/>
            <a:ext cx="1855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6,570,000</a:t>
            </a:r>
            <a:endParaRPr lang="en-US" sz="1200" dirty="0"/>
          </a:p>
        </p:txBody>
      </p:sp>
      <p:sp>
        <p:nvSpPr>
          <p:cNvPr id="57" name="Text 14"/>
          <p:cNvSpPr/>
          <p:nvPr/>
        </p:nvSpPr>
        <p:spPr>
          <a:xfrm>
            <a:off x="304800" y="2590800"/>
            <a:ext cx="130388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</a:t>
            </a:r>
            <a:endParaRPr lang="en-US" sz="1200" dirty="0"/>
          </a:p>
        </p:txBody>
      </p:sp>
      <p:sp>
        <p:nvSpPr>
          <p:cNvPr id="58" name="Text 15"/>
          <p:cNvSpPr/>
          <p:nvPr/>
        </p:nvSpPr>
        <p:spPr>
          <a:xfrm>
            <a:off x="1509504" y="2590800"/>
            <a:ext cx="11901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0.045</a:t>
            </a:r>
            <a:endParaRPr lang="en-US" sz="1200" dirty="0"/>
          </a:p>
        </p:txBody>
      </p:sp>
      <p:sp>
        <p:nvSpPr>
          <p:cNvPr id="59" name="Text 16"/>
          <p:cNvSpPr/>
          <p:nvPr/>
        </p:nvSpPr>
        <p:spPr>
          <a:xfrm>
            <a:off x="2503140" y="2590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0.045</a:t>
            </a:r>
            <a:endParaRPr lang="en-US" sz="1200" dirty="0"/>
          </a:p>
        </p:txBody>
      </p:sp>
      <p:sp>
        <p:nvSpPr>
          <p:cNvPr id="60" name="Text 17"/>
          <p:cNvSpPr/>
          <p:nvPr/>
        </p:nvSpPr>
        <p:spPr>
          <a:xfrm>
            <a:off x="3476476" y="2590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0.045</a:t>
            </a:r>
            <a:endParaRPr lang="en-US" sz="1200" dirty="0"/>
          </a:p>
        </p:txBody>
      </p:sp>
      <p:sp>
        <p:nvSpPr>
          <p:cNvPr id="61" name="Text 18"/>
          <p:cNvSpPr/>
          <p:nvPr/>
        </p:nvSpPr>
        <p:spPr>
          <a:xfrm>
            <a:off x="4446330" y="2590800"/>
            <a:ext cx="12097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0.045</a:t>
            </a:r>
            <a:endParaRPr lang="en-US" sz="1200" dirty="0"/>
          </a:p>
        </p:txBody>
      </p:sp>
      <p:sp>
        <p:nvSpPr>
          <p:cNvPr id="62" name="Text 19"/>
          <p:cNvSpPr/>
          <p:nvPr/>
        </p:nvSpPr>
        <p:spPr>
          <a:xfrm>
            <a:off x="5400660" y="2590800"/>
            <a:ext cx="1855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50,000</a:t>
            </a:r>
            <a:endParaRPr lang="en-US" sz="1200" dirty="0"/>
          </a:p>
        </p:txBody>
      </p:sp>
      <p:sp>
        <p:nvSpPr>
          <p:cNvPr id="63" name="Text 20"/>
          <p:cNvSpPr/>
          <p:nvPr/>
        </p:nvSpPr>
        <p:spPr>
          <a:xfrm>
            <a:off x="304800" y="2971800"/>
            <a:ext cx="130388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</a:t>
            </a:r>
            <a:endParaRPr lang="en-US" sz="1200" dirty="0"/>
          </a:p>
        </p:txBody>
      </p:sp>
      <p:sp>
        <p:nvSpPr>
          <p:cNvPr id="64" name="Text 21"/>
          <p:cNvSpPr/>
          <p:nvPr/>
        </p:nvSpPr>
        <p:spPr>
          <a:xfrm>
            <a:off x="1509504" y="2971800"/>
            <a:ext cx="11901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65.00</a:t>
            </a:r>
            <a:endParaRPr lang="en-US" sz="1200" dirty="0"/>
          </a:p>
        </p:txBody>
      </p:sp>
      <p:sp>
        <p:nvSpPr>
          <p:cNvPr id="65" name="Text 22"/>
          <p:cNvSpPr/>
          <p:nvPr/>
        </p:nvSpPr>
        <p:spPr>
          <a:xfrm>
            <a:off x="2503140" y="2971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65.12</a:t>
            </a:r>
            <a:endParaRPr lang="en-US" sz="1200" dirty="0"/>
          </a:p>
        </p:txBody>
      </p:sp>
      <p:sp>
        <p:nvSpPr>
          <p:cNvPr id="66" name="Text 23"/>
          <p:cNvSpPr/>
          <p:nvPr/>
        </p:nvSpPr>
        <p:spPr>
          <a:xfrm>
            <a:off x="3476476" y="2971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64.80</a:t>
            </a:r>
            <a:endParaRPr lang="en-US" sz="1200" dirty="0"/>
          </a:p>
        </p:txBody>
      </p:sp>
      <p:sp>
        <p:nvSpPr>
          <p:cNvPr id="67" name="Text 24"/>
          <p:cNvSpPr/>
          <p:nvPr/>
        </p:nvSpPr>
        <p:spPr>
          <a:xfrm>
            <a:off x="4446330" y="2971800"/>
            <a:ext cx="12097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65.20</a:t>
            </a:r>
            <a:endParaRPr lang="en-US" sz="1200" dirty="0"/>
          </a:p>
        </p:txBody>
      </p:sp>
      <p:sp>
        <p:nvSpPr>
          <p:cNvPr id="68" name="Text 25"/>
          <p:cNvSpPr/>
          <p:nvPr/>
        </p:nvSpPr>
        <p:spPr>
          <a:xfrm>
            <a:off x="5400660" y="2971800"/>
            <a:ext cx="1855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98,300,000</a:t>
            </a:r>
            <a:endParaRPr lang="en-US" sz="1200" dirty="0"/>
          </a:p>
        </p:txBody>
      </p:sp>
      <p:sp>
        <p:nvSpPr>
          <p:cNvPr id="69" name="Text 26"/>
          <p:cNvSpPr/>
          <p:nvPr/>
        </p:nvSpPr>
        <p:spPr>
          <a:xfrm>
            <a:off x="174412" y="3352800"/>
            <a:ext cx="15646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Std. Dev.</a:t>
            </a:r>
            <a:endParaRPr lang="en-US" sz="1200" dirty="0"/>
          </a:p>
        </p:txBody>
      </p:sp>
      <p:sp>
        <p:nvSpPr>
          <p:cNvPr id="70" name="Text 27"/>
          <p:cNvSpPr/>
          <p:nvPr/>
        </p:nvSpPr>
        <p:spPr>
          <a:xfrm>
            <a:off x="1509504" y="3352800"/>
            <a:ext cx="11901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18.25</a:t>
            </a:r>
            <a:endParaRPr lang="en-US" sz="1200" dirty="0"/>
          </a:p>
        </p:txBody>
      </p:sp>
      <p:sp>
        <p:nvSpPr>
          <p:cNvPr id="71" name="Text 28"/>
          <p:cNvSpPr/>
          <p:nvPr/>
        </p:nvSpPr>
        <p:spPr>
          <a:xfrm>
            <a:off x="2503140" y="3352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18.27</a:t>
            </a:r>
            <a:endParaRPr lang="en-US" sz="1200" dirty="0"/>
          </a:p>
        </p:txBody>
      </p:sp>
      <p:sp>
        <p:nvSpPr>
          <p:cNvPr id="72" name="Text 29"/>
          <p:cNvSpPr/>
          <p:nvPr/>
        </p:nvSpPr>
        <p:spPr>
          <a:xfrm>
            <a:off x="3476476" y="3352800"/>
            <a:ext cx="1168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18.23</a:t>
            </a:r>
            <a:endParaRPr lang="en-US" sz="1200" dirty="0"/>
          </a:p>
        </p:txBody>
      </p:sp>
      <p:sp>
        <p:nvSpPr>
          <p:cNvPr id="73" name="Text 30"/>
          <p:cNvSpPr/>
          <p:nvPr/>
        </p:nvSpPr>
        <p:spPr>
          <a:xfrm>
            <a:off x="4446330" y="3352800"/>
            <a:ext cx="12097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18.25</a:t>
            </a:r>
            <a:endParaRPr lang="en-US" sz="1200" dirty="0"/>
          </a:p>
        </p:txBody>
      </p:sp>
      <p:sp>
        <p:nvSpPr>
          <p:cNvPr id="74" name="Text 31"/>
          <p:cNvSpPr/>
          <p:nvPr/>
        </p:nvSpPr>
        <p:spPr>
          <a:xfrm>
            <a:off x="5400660" y="3352800"/>
            <a:ext cx="1855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3,760,000</a:t>
            </a:r>
            <a:endParaRPr lang="en-US" sz="1200" dirty="0"/>
          </a:p>
        </p:txBody>
      </p:sp>
      <p:sp>
        <p:nvSpPr>
          <p:cNvPr id="75" name="Text 32"/>
          <p:cNvSpPr/>
          <p:nvPr/>
        </p:nvSpPr>
        <p:spPr>
          <a:xfrm>
            <a:off x="7141413" y="1981200"/>
            <a:ext cx="50108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Deviation by Metric</a:t>
            </a:r>
            <a:endParaRPr lang="en-US" sz="1500" dirty="0"/>
          </a:p>
        </p:txBody>
      </p:sp>
      <p:sp>
        <p:nvSpPr>
          <p:cNvPr id="76" name="Text 33"/>
          <p:cNvSpPr/>
          <p:nvPr/>
        </p:nvSpPr>
        <p:spPr>
          <a:xfrm>
            <a:off x="7768530" y="5153025"/>
            <a:ext cx="35434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deviation measures price volatility</a:t>
            </a:r>
            <a:endParaRPr lang="en-US" sz="1050" dirty="0"/>
          </a:p>
        </p:txBody>
      </p:sp>
      <p:sp>
        <p:nvSpPr>
          <p:cNvPr id="77" name="Text 34"/>
          <p:cNvSpPr/>
          <p:nvPr/>
        </p:nvSpPr>
        <p:spPr>
          <a:xfrm>
            <a:off x="7768530" y="5381625"/>
            <a:ext cx="289357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values indicate more stability</a:t>
            </a:r>
            <a:endParaRPr lang="en-US" sz="1050" dirty="0"/>
          </a:p>
        </p:txBody>
      </p:sp>
      <p:sp>
        <p:nvSpPr>
          <p:cNvPr id="78" name="Text 35"/>
          <p:cNvSpPr/>
          <p:nvPr/>
        </p:nvSpPr>
        <p:spPr>
          <a:xfrm>
            <a:off x="457200" y="6029325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Observations:</a:t>
            </a:r>
            <a:endParaRPr lang="en-US" sz="1350" dirty="0"/>
          </a:p>
        </p:txBody>
      </p:sp>
      <p:sp>
        <p:nvSpPr>
          <p:cNvPr id="79" name="Text 36"/>
          <p:cNvSpPr/>
          <p:nvPr/>
        </p:nvSpPr>
        <p:spPr>
          <a:xfrm>
            <a:off x="685800" y="6372225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closing price of 32.93 USD indicates the average stock value over the analyzed period</a:t>
            </a:r>
            <a:endParaRPr lang="en-US" sz="1200" dirty="0"/>
          </a:p>
        </p:txBody>
      </p:sp>
      <p:sp>
        <p:nvSpPr>
          <p:cNvPr id="80" name="Text 37"/>
          <p:cNvSpPr/>
          <p:nvPr/>
        </p:nvSpPr>
        <p:spPr>
          <a:xfrm>
            <a:off x="6400800" y="6372225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deviation of approximately 18.25 suggests moderate price volatility</a:t>
            </a:r>
            <a:endParaRPr lang="en-US" sz="1200" dirty="0"/>
          </a:p>
        </p:txBody>
      </p:sp>
      <p:sp>
        <p:nvSpPr>
          <p:cNvPr id="81" name="Text 38"/>
          <p:cNvSpPr/>
          <p:nvPr/>
        </p:nvSpPr>
        <p:spPr>
          <a:xfrm>
            <a:off x="11468844" y="6905625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143000"/>
            <a:ext cx="5676900" cy="2019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716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150495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3000"/>
            <a:ext cx="5676900" cy="2019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3716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15049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390900"/>
            <a:ext cx="5676900" cy="2019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6195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3752850"/>
            <a:ext cx="3238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390900"/>
            <a:ext cx="5676900" cy="2019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6195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37528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5715000"/>
            <a:ext cx="11430000" cy="838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9055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5981700"/>
            <a:ext cx="28575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333500" y="13716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Growth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333500" y="17145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Coca-Cola's stock has demonstrated consistent appreciation from the 1960s to 2025, indicating a strong long-term growth trajectory.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7239000" y="137160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Trading Volume Spike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7239000" y="17145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significant spike in trading volume was observed in 2020, aligning with the increased market volatility experienced during the pandemic.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333500" y="36195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Bullish Consistency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1333500" y="39624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Approximately 63% of trading days saw the stock close higher than its opening price, highlighting a consistent bullish trend.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7239000" y="36195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Patterns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7239000" y="39624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revealed that the months of January through April generally show higher average closing prices.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219200" y="5905500"/>
            <a:ext cx="10401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Stability: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stock exhibits a relatively narrow price range on most trading days, suggesting that Coca-Cola's stock is generally stable.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11430000" cy="125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781300"/>
            <a:ext cx="3657600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0099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2781300"/>
            <a:ext cx="3657600" cy="1866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800" y="30099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2781300"/>
            <a:ext cx="3657600" cy="1866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300990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953000"/>
            <a:ext cx="560070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4953000"/>
            <a:ext cx="56007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457825"/>
            <a:ext cx="457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and Summary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609600" y="1447800"/>
            <a:ext cx="10972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summary, the comprehensive analysis of Coca-Cola's historical stock performance reveals it to be a relatively stable investment with consistent long-term growth. Despite periods of market volatility, such as the volume spike in 2020, the stock has maintained a steady upward trend and exhibits predictable seasonal patterns.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1047750" y="3048000"/>
            <a:ext cx="23595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Growth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609600" y="3505200"/>
            <a:ext cx="3200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Coca-Cola's stock has demonstrated consistent appreciation from the 1960s to 2025, indicating a strong long-term growth trajectory.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5010150" y="3048000"/>
            <a:ext cx="10853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4495800" y="3505200"/>
            <a:ext cx="3200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stock exhibits a relatively narrow price range on most trading days, suggesting that Coca-Cola's stock is generally stable.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8820150" y="3048000"/>
            <a:ext cx="20315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Trading Activity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8382000" y="3505200"/>
            <a:ext cx="3200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significant spike in trading volume was observed in 2020, aligning with the increased market volatility experienced during the pandemic.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09600" y="5467350"/>
            <a:ext cx="131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63%</a:t>
            </a:r>
            <a:endParaRPr lang="en-US" sz="3600" dirty="0"/>
          </a:p>
        </p:txBody>
      </p:sp>
      <p:sp>
        <p:nvSpPr>
          <p:cNvPr id="23" name="Text 9"/>
          <p:cNvSpPr/>
          <p:nvPr/>
        </p:nvSpPr>
        <p:spPr>
          <a:xfrm>
            <a:off x="1932533" y="5181600"/>
            <a:ext cx="458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Bullish Consistency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1932533" y="5524500"/>
            <a:ext cx="3820567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Approximately 63% of trading days saw the stock close higher than its opening price, highlighting a consistent bullish trend.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7124700" y="52959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Behavior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7124700" y="56388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revealed that the months of January through April generally show higher average closing prices.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Rabin Shahi</cp:lastModifiedBy>
  <cp:revision>2</cp:revision>
  <dcterms:created xsi:type="dcterms:W3CDTF">2025-11-01T11:52:55Z</dcterms:created>
  <dcterms:modified xsi:type="dcterms:W3CDTF">2025-11-01T11:56:53Z</dcterms:modified>
</cp:coreProperties>
</file>